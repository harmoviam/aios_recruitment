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12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HarmiRecruit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0">
                <a:solidFill>
                  <a:srgbClr val="14B8A6"/>
                </a:solidFill>
                <a:latin typeface="Calibri"/>
              </a:rPr>
              <a:t>What Each Person on Your Team Gets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1752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C5D4DE"/>
                </a:solidFill>
                <a:latin typeface="Calibri"/>
              </a:rPr>
              <a:t>AI-first recruitment with WhatsApp at the core — built for Indian agencies, staffing companies, and hiring teams.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715000"/>
            <a:ext cx="2468880" cy="411480"/>
          </a:xfrm>
          <a:prstGeom prst="roundRect">
            <a:avLst>
              <a:gd name="adj" fmla="val 4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👤  Recruiters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5715000"/>
            <a:ext cx="2468880" cy="411480"/>
          </a:xfrm>
          <a:prstGeom prst="roundRect">
            <a:avLst>
              <a:gd name="adj" fmla="val 40000"/>
            </a:avLst>
          </a:prstGeom>
          <a:solidFill>
            <a:srgbClr val="F0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👔  Hiring Managers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5715000"/>
            <a:ext cx="2468880" cy="411480"/>
          </a:xfrm>
          <a:prstGeom prst="roundRect">
            <a:avLst>
              <a:gd name="adj" fmla="val 40000"/>
            </a:avLst>
          </a:prstGeom>
          <a:solidFill>
            <a:srgbClr val="F5B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B1F33"/>
                </a:solidFill>
                <a:latin typeface="Calibri"/>
              </a:rPr>
              <a:t>🏢  Owners &amp; Admins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78240" y="5715000"/>
            <a:ext cx="2468880" cy="411480"/>
          </a:xfrm>
          <a:prstGeom prst="roundRect">
            <a:avLst>
              <a:gd name="adj" fmla="val 40000"/>
            </a:avLst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🙋  Candidates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D9488"/>
                </a:solidFill>
                <a:latin typeface="Calibri"/>
              </a:rPr>
              <a:t>THE PROMISE</a:t>
            </a:r>
          </a:p>
          <a:p>
            <a:pPr>
              <a:spcBef>
                <a:spcPts val="400"/>
              </a:spcBef>
            </a:pPr>
            <a:r>
              <a:rPr sz="2800" b="1">
                <a:solidFill>
                  <a:srgbClr val="0B1F33"/>
                </a:solidFill>
                <a:latin typeface="Calibri"/>
              </a:rPr>
              <a:t>One platform. Four seats. Zero friction.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6B7C8C"/>
                </a:solidFill>
                <a:latin typeface="Calibri"/>
              </a:rPr>
              <a:t>Everyone on your team gets tools that match how they actually work.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553212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828800"/>
            <a:ext cx="109728" cy="19202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488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6B7C8C"/>
                </a:solidFill>
                <a:latin typeface="Calibri"/>
              </a:rPr>
              <a:t>👤  Recruiters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0604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B1F33"/>
                </a:solidFill>
                <a:latin typeface="Calibri"/>
              </a:rPr>
              <a:t>"Spend your day closing candidates,
not doing data entry"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828800"/>
            <a:ext cx="553212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828800"/>
            <a:ext cx="109728" cy="1920240"/>
          </a:xfrm>
          <a:prstGeom prst="rect">
            <a:avLst/>
          </a:prstGeom>
          <a:solidFill>
            <a:srgbClr val="F0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1488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6B7C8C"/>
                </a:solidFill>
                <a:latin typeface="Calibri"/>
              </a:rPr>
              <a:t>👔  Hiring Managers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60604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B1F33"/>
                </a:solidFill>
                <a:latin typeface="Calibri"/>
              </a:rPr>
              <a:t>"See your whole team's desk
at a glance"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77640"/>
            <a:ext cx="553212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977640"/>
            <a:ext cx="109728" cy="1920240"/>
          </a:xfrm>
          <a:prstGeom prst="rect">
            <a:avLst/>
          </a:prstGeom>
          <a:solidFill>
            <a:srgbClr val="F5B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29768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6B7C8C"/>
                </a:solidFill>
                <a:latin typeface="Calibri"/>
              </a:rPr>
              <a:t>🏢  Owners / Admins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75488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B1F33"/>
                </a:solidFill>
                <a:latin typeface="Calibri"/>
              </a:rPr>
              <a:t>"Run the business,
not the spreadsheet"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977640"/>
            <a:ext cx="5532120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3977640"/>
            <a:ext cx="109728" cy="192024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429768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6B7C8C"/>
                </a:solidFill>
                <a:latin typeface="Calibri"/>
              </a:rPr>
              <a:t>🙋  Candidates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75488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B1F33"/>
                </a:solidFill>
                <a:latin typeface="Calibri"/>
              </a:rPr>
              <a:t>"Zero friction —
no app to install"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AA8B8"/>
                </a:solidFill>
                <a:latin typeface="Calibri"/>
              </a:rPr>
              <a:t>HarmiRecruit  ·  AI-first recruitment for India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658368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A8B8"/>
                </a:solidFill>
                <a:latin typeface="Calibri"/>
              </a:rPr>
              <a:t>2  / 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4B8A6"/>
                </a:solidFill>
                <a:latin typeface="Calibri"/>
              </a:rPr>
              <a:t>FOR RECRUITERS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"Spend your day closing candidates,
not doing data entry"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14800"/>
            <a:ext cx="100584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</a:pPr>
            <a:r>
              <a:rPr sz="1600" b="0">
                <a:solidFill>
                  <a:srgbClr val="C5D4DE"/>
                </a:solidFill>
                <a:latin typeface="Calibri"/>
              </a:rPr>
              <a:t>→   Candidate sourcing &amp; intake</a:t>
            </a: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C5D4DE"/>
                </a:solidFill>
                <a:latin typeface="Calibri"/>
              </a:rPr>
              <a:t>→   Pipeline management</a:t>
            </a: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C5D4DE"/>
                </a:solidFill>
                <a:latin typeface="Calibri"/>
              </a:rPr>
              <a:t>→   WhatsApp built in ★</a:t>
            </a: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C5D4DE"/>
                </a:solidFill>
                <a:latin typeface="Calibri"/>
              </a:rPr>
              <a:t>→   Interviews</a:t>
            </a: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C5D4DE"/>
                </a:solidFill>
                <a:latin typeface="Calibri"/>
              </a:rPr>
              <a:t>→   Follow-up engine ★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AA8B8"/>
                </a:solidFill>
                <a:latin typeface="Calibri"/>
              </a:rPr>
              <a:t>HarmiRecruit  ·  AI-first recruitment for India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58368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A8B8"/>
                </a:solidFill>
                <a:latin typeface="Calibri"/>
              </a:rPr>
              <a:t>3  / 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D9488"/>
                </a:solidFill>
                <a:latin typeface="Calibri"/>
              </a:rPr>
              <a:t>RECRUITERS · SOURCING &amp; INTAKE</a:t>
            </a:r>
          </a:p>
          <a:p>
            <a:pPr>
              <a:spcBef>
                <a:spcPts val="400"/>
              </a:spcBef>
            </a:pPr>
            <a:r>
              <a:rPr sz="2800" b="1">
                <a:solidFill>
                  <a:srgbClr val="0B1F33"/>
                </a:solidFill>
                <a:latin typeface="Calibri"/>
              </a:rPr>
              <a:t>Drop a resume. Get a full profile. Done.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6B7C8C"/>
                </a:solidFill>
                <a:latin typeface="Calibri"/>
              </a:rPr>
              <a:t>From PDF to searchable candidate in seconds — no typing.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37360"/>
            <a:ext cx="5532120" cy="4297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" y="1938528"/>
            <a:ext cx="64008" cy="32918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01952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B1F33"/>
                </a:solidFill>
                <a:latin typeface="Calibri"/>
              </a:rPr>
              <a:t>Smart intake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286000"/>
            <a:ext cx="507492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200" b="0">
                <a:solidFill>
                  <a:srgbClr val="3D4F60"/>
                </a:solidFill>
                <a:latin typeface="Calibri"/>
              </a:rPr>
              <a:t>•  Drop a resume (PDF/Word) → AI extracts contact, skills, experience, education, salary, notice period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200" b="0">
                <a:solidFill>
                  <a:srgbClr val="3D4F60"/>
                </a:solidFill>
                <a:latin typeface="Calibri"/>
              </a:rPr>
              <a:t>•  Applications flow in automatically from your branded careers page — no manual entry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200" b="0">
                <a:solidFill>
                  <a:srgbClr val="3D4F60"/>
                </a:solidFill>
                <a:latin typeface="Calibri"/>
              </a:rPr>
              <a:t>•  Duplicate detection: same candidate applying twice is merged, never duplicated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37360"/>
            <a:ext cx="5532120" cy="4297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82512" y="1938528"/>
            <a:ext cx="64008" cy="329184"/>
          </a:xfrm>
          <a:prstGeom prst="rect">
            <a:avLst/>
          </a:prstGeom>
          <a:solidFill>
            <a:srgbClr val="F0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901952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B1F33"/>
                </a:solidFill>
                <a:latin typeface="Calibri"/>
              </a:rPr>
              <a:t>Search &amp; migrate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2286000"/>
            <a:ext cx="507492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200" b="0">
                <a:solidFill>
                  <a:srgbClr val="3D4F60"/>
                </a:solidFill>
                <a:latin typeface="Calibri"/>
              </a:rPr>
              <a:t>•  Bulk CSV import with validation for migrating your existing database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200" b="0">
                <a:solidFill>
                  <a:srgbClr val="3D4F60"/>
                </a:solidFill>
                <a:latin typeface="Calibri"/>
              </a:rPr>
              <a:t>•  Search across everything — name, phone, skills, and even inside resume text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200" b="0">
                <a:solidFill>
                  <a:srgbClr val="3D4F60"/>
                </a:solidFill>
                <a:latin typeface="Calibri"/>
              </a:rPr>
              <a:t>•  "React Mohali" finds them — full-text search that actually works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AA8B8"/>
                </a:solidFill>
                <a:latin typeface="Calibri"/>
              </a:rPr>
              <a:t>HarmiRecruit  ·  AI-first recruitment for India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58368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A8B8"/>
                </a:solidFill>
                <a:latin typeface="Calibri"/>
              </a:rPr>
              <a:t>4  / 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D9488"/>
                </a:solidFill>
                <a:latin typeface="Calibri"/>
              </a:rPr>
              <a:t>RECRUITERS · PIPELINE</a:t>
            </a:r>
          </a:p>
          <a:p>
            <a:pPr>
              <a:spcBef>
                <a:spcPts val="400"/>
              </a:spcBef>
            </a:pPr>
            <a:r>
              <a:rPr sz="2800" b="1">
                <a:solidFill>
                  <a:srgbClr val="0B1F33"/>
                </a:solidFill>
                <a:latin typeface="Calibri"/>
              </a:rPr>
              <a:t>Your desk, visualised — drag, drop, close.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6B7C8C"/>
                </a:solidFill>
                <a:latin typeface="Calibri"/>
              </a:rPr>
              <a:t>One candidate. Multiple jobs. Each with its own stage.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1965960" cy="457200"/>
          </a:xfrm>
          <a:prstGeom prst="roundRect">
            <a:avLst>
              <a:gd name="adj" fmla="val 35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Applied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39" y="178308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6B7C8C"/>
                </a:solidFill>
                <a:latin typeface="Calibr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88920" y="1737360"/>
            <a:ext cx="1965960" cy="457200"/>
          </a:xfrm>
          <a:prstGeom prst="roundRect">
            <a:avLst>
              <a:gd name="adj" fmla="val 35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Screening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39" y="178308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6B7C8C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74920" y="1737360"/>
            <a:ext cx="1965960" cy="457200"/>
          </a:xfrm>
          <a:prstGeom prst="roundRect">
            <a:avLst>
              <a:gd name="adj" fmla="val 35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Interview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39" y="178308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6B7C8C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60920" y="1737360"/>
            <a:ext cx="1965960" cy="457200"/>
          </a:xfrm>
          <a:prstGeom prst="roundRect">
            <a:avLst>
              <a:gd name="adj" fmla="val 35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Selected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39" y="178308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6B7C8C"/>
                </a:solidFill>
                <a:latin typeface="Calibr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46920" y="1737360"/>
            <a:ext cx="1965960" cy="457200"/>
          </a:xfrm>
          <a:prstGeom prst="roundRect">
            <a:avLst>
              <a:gd name="adj" fmla="val 35000"/>
            </a:avLst>
          </a:prstGeom>
          <a:solidFill>
            <a:srgbClr val="F0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Joined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514600"/>
            <a:ext cx="562356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2834640"/>
            <a:ext cx="64008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278892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Calibri"/>
              </a:rPr>
              <a:t>Multi-job submit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24612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D4F60"/>
                </a:solidFill>
                <a:latin typeface="Calibri"/>
              </a:rPr>
              <a:t>Submit one candidate to multiple jobs at once — each submission tracks its own stage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2514600"/>
            <a:ext cx="562356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92240" y="2834640"/>
            <a:ext cx="64008" cy="822960"/>
          </a:xfrm>
          <a:prstGeom prst="rect">
            <a:avLst/>
          </a:prstGeom>
          <a:solidFill>
            <a:srgbClr val="F0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278892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Calibri"/>
              </a:rPr>
              <a:t>AI Match Score /10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324612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D4F60"/>
                </a:solidFill>
                <a:latin typeface="Calibri"/>
              </a:rPr>
              <a:t>Every candidate ranked against the job, with strengths and gaps explained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251960"/>
            <a:ext cx="562356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4572000"/>
            <a:ext cx="64008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52628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Calibri"/>
              </a:rPr>
              <a:t>Hot + Bulk actions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98348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D4F60"/>
                </a:solidFill>
                <a:latin typeface="Calibri"/>
              </a:rPr>
              <a:t>Flag hot candidates, bulk stage updates, one-click CSV export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4251960"/>
            <a:ext cx="562356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92240" y="4572000"/>
            <a:ext cx="64008" cy="822960"/>
          </a:xfrm>
          <a:prstGeom prst="rect">
            <a:avLst/>
          </a:prstGeom>
          <a:solidFill>
            <a:srgbClr val="F0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20840" y="452628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Calibri"/>
              </a:rPr>
              <a:t>360° profile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498348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D4F60"/>
                </a:solidFill>
                <a:latin typeface="Calibri"/>
              </a:rPr>
              <a:t>Timeline, conversations, interviews, scores, notes — all on one screen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AA8B8"/>
                </a:solidFill>
                <a:latin typeface="Calibri"/>
              </a:rPr>
              <a:t>HarmiRecruit  ·  AI-first recruitment for India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658368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A8B8"/>
                </a:solidFill>
                <a:latin typeface="Calibri"/>
              </a:rPr>
              <a:t>5  / 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D9488"/>
                </a:solidFill>
                <a:latin typeface="Calibri"/>
              </a:rPr>
              <a:t>RECRUITERS · WHATSAPP ★</a:t>
            </a:r>
          </a:p>
          <a:p>
            <a:pPr>
              <a:spcBef>
                <a:spcPts val="400"/>
              </a:spcBef>
            </a:pPr>
            <a:r>
              <a:rPr sz="2800" b="1">
                <a:solidFill>
                  <a:srgbClr val="0B1F33"/>
                </a:solidFill>
                <a:latin typeface="Calibri"/>
              </a:rPr>
              <a:t>Inbox inside the platform. Candidates where they already are.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6B7C8C"/>
                </a:solidFill>
                <a:latin typeface="Calibri"/>
              </a:rPr>
              <a:t>Official Meta Business API — send, receive, and follow up without leaving HarmiRecruit.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320040"/>
            <a:ext cx="2194560" cy="292608"/>
          </a:xfrm>
          <a:prstGeom prst="roundRect">
            <a:avLst>
              <a:gd name="adj" fmla="val 50000"/>
            </a:avLst>
          </a:prstGeom>
          <a:solidFill>
            <a:srgbClr val="F5B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B1F33"/>
                </a:solidFill>
                <a:latin typeface="Calibri"/>
              </a:rPr>
              <a:t>★  STAR FEATURE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1124712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2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96596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01952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Calibri"/>
              </a:rPr>
              <a:t>Full WhatsApp inbox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240280"/>
            <a:ext cx="9875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3D4F60"/>
                </a:solidFill>
                <a:latin typeface="Calibri"/>
              </a:rPr>
              <a:t>Send and receive on the official Meta Business API — your conversations live inside the ATS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834640"/>
            <a:ext cx="1124712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2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306324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99232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Calibri"/>
              </a:rPr>
              <a:t>AI reply suggestions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337560"/>
            <a:ext cx="9875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3D4F60"/>
                </a:solidFill>
                <a:latin typeface="Calibri"/>
              </a:rPr>
              <a:t>Drafted responses for every conversation — edit and send in one tap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931920"/>
            <a:ext cx="1124712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2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0080" y="416052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096512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Calibri"/>
              </a:rPr>
              <a:t>Interview &amp; join links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434840"/>
            <a:ext cx="9875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3D4F60"/>
                </a:solidFill>
                <a:latin typeface="Calibri"/>
              </a:rPr>
              <a:t>Invites, join links, and follow-ups delivered straight to the candidate's WhatsApp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029200"/>
            <a:ext cx="11247120" cy="960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solidFill>
              <a:srgbClr val="E2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" y="525780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193792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Calibri"/>
              </a:rPr>
              <a:t>Recruiter signatures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532120"/>
            <a:ext cx="9875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3D4F60"/>
                </a:solidFill>
                <a:latin typeface="Calibri"/>
              </a:rPr>
              <a:t>Workspace branding on every message — your name, your agency, your professionalism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AA8B8"/>
                </a:solidFill>
                <a:latin typeface="Calibri"/>
              </a:rPr>
              <a:t>HarmiRecruit  ·  AI-first recruitment for India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658368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A8B8"/>
                </a:solidFill>
                <a:latin typeface="Calibri"/>
              </a:rPr>
              <a:t>6  / 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D9488"/>
                </a:solidFill>
                <a:latin typeface="Calibri"/>
              </a:rPr>
              <a:t>RECRUITERS · INTERVIEWS</a:t>
            </a:r>
          </a:p>
          <a:p>
            <a:pPr>
              <a:spcBef>
                <a:spcPts val="400"/>
              </a:spcBef>
            </a:pPr>
            <a:r>
              <a:rPr sz="2800" b="1">
                <a:solidFill>
                  <a:srgbClr val="0B1F33"/>
                </a:solidFill>
                <a:latin typeface="Calibri"/>
              </a:rPr>
              <a:t>Two clicks to schedule. Zero Zoom licences.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6B7C8C"/>
                </a:solidFill>
                <a:latin typeface="Calibri"/>
              </a:rPr>
              <a:t>WhatsApp + email + calendar invite — candidate ready, you ready.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737360"/>
            <a:ext cx="2788920" cy="4297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0352" y="1938528"/>
            <a:ext cx="64008" cy="32918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01952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B1F33"/>
                </a:solidFill>
                <a:latin typeface="Calibri"/>
              </a:rPr>
              <a:t>Schedule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286000"/>
            <a:ext cx="233172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200" b="0">
                <a:solidFill>
                  <a:srgbClr val="3D4F60"/>
                </a:solidFill>
                <a:latin typeface="Calibri"/>
              </a:rPr>
              <a:t>•  Two-click scheduling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200" b="0">
                <a:solidFill>
                  <a:srgbClr val="3D4F60"/>
                </a:solidFill>
                <a:latin typeface="Calibri"/>
              </a:rPr>
              <a:t>•  WhatsApp + email with calendar invite (.ics)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200" b="0">
                <a:solidFill>
                  <a:srgbClr val="3D4F60"/>
                </a:solidFill>
                <a:latin typeface="Calibri"/>
              </a:rPr>
              <a:t>•  Candidate gets everything instantly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737360"/>
            <a:ext cx="2788920" cy="4297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56432" y="1938528"/>
            <a:ext cx="64008" cy="329184"/>
          </a:xfrm>
          <a:prstGeom prst="rect">
            <a:avLst/>
          </a:prstGeom>
          <a:solidFill>
            <a:srgbClr val="F0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1901952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B1F33"/>
                </a:solidFill>
                <a:latin typeface="Calibri"/>
              </a:rPr>
              <a:t>Built-in video room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47872" y="2286000"/>
            <a:ext cx="233172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200" b="0">
                <a:solidFill>
                  <a:srgbClr val="3D4F60"/>
                </a:solidFill>
                <a:latin typeface="Calibri"/>
              </a:rPr>
              <a:t>•  No Zoom licence needed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200" b="0">
                <a:solidFill>
                  <a:srgbClr val="3D4F60"/>
                </a:solidFill>
                <a:latin typeface="Calibri"/>
              </a:rPr>
              <a:t>•  Mic check before joining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200" b="0">
                <a:solidFill>
                  <a:srgbClr val="3D4F60"/>
                </a:solidFill>
                <a:latin typeface="Calibri"/>
              </a:rPr>
              <a:t>•  One-tap candidate join link in browser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737360"/>
            <a:ext cx="2788920" cy="4297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82512" y="1938528"/>
            <a:ext cx="64008" cy="329184"/>
          </a:xfrm>
          <a:prstGeom prst="rect">
            <a:avLst/>
          </a:prstGeom>
          <a:solidFill>
            <a:srgbClr val="F5B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1901952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B1F33"/>
                </a:solidFill>
                <a:latin typeface="Calibri"/>
              </a:rPr>
              <a:t>First-call scorecard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286000"/>
            <a:ext cx="233172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200" b="0">
                <a:solidFill>
                  <a:srgbClr val="3D4F60"/>
                </a:solidFill>
                <a:latin typeface="Calibri"/>
              </a:rPr>
              <a:t>•  Rate energy, motivation, communication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200" b="0">
                <a:solidFill>
                  <a:srgbClr val="3D4F60"/>
                </a:solidFill>
                <a:latin typeface="Calibri"/>
              </a:rPr>
              <a:t>•  Red-flag signals captured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200" b="0">
                <a:solidFill>
                  <a:srgbClr val="3D4F60"/>
                </a:solidFill>
                <a:latin typeface="Calibri"/>
              </a:rPr>
              <a:t>•  Automatic risk rating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1737360"/>
            <a:ext cx="2788920" cy="4297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08592" y="1938528"/>
            <a:ext cx="64008" cy="32918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0" y="1901952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B1F33"/>
                </a:solidFill>
                <a:latin typeface="Calibri"/>
              </a:rPr>
              <a:t>AI screening Qs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00032" y="2286000"/>
            <a:ext cx="233172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200" b="0">
                <a:solidFill>
                  <a:srgbClr val="3D4F60"/>
                </a:solidFill>
                <a:latin typeface="Calibri"/>
              </a:rPr>
              <a:t>•  Questions tailored to each job's JD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200" b="0">
                <a:solidFill>
                  <a:srgbClr val="3D4F60"/>
                </a:solidFill>
                <a:latin typeface="Calibri"/>
              </a:rPr>
              <a:t>•  Ready before you dial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200" b="0">
                <a:solidFill>
                  <a:srgbClr val="3D4F60"/>
                </a:solidFill>
                <a:latin typeface="Calibri"/>
              </a:rPr>
              <a:t>•  Consistent quality across the team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AA8B8"/>
                </a:solidFill>
                <a:latin typeface="Calibri"/>
              </a:rPr>
              <a:t>HarmiRecruit  ·  AI-first recruitment for India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658368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A8B8"/>
                </a:solidFill>
                <a:latin typeface="Calibri"/>
              </a:rPr>
              <a:t>7  / 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D9488"/>
                </a:solidFill>
                <a:latin typeface="Calibri"/>
              </a:rPr>
              <a:t>RECRUITERS · FOLLOW-UP ENGINE ★</a:t>
            </a:r>
          </a:p>
          <a:p>
            <a:pPr>
              <a:spcBef>
                <a:spcPts val="400"/>
              </a:spcBef>
            </a:pPr>
            <a:r>
              <a:rPr sz="2800" b="1">
                <a:solidFill>
                  <a:srgbClr val="0B1F33"/>
                </a:solidFill>
                <a:latin typeface="Calibri"/>
              </a:rPr>
              <a:t>The dropout killer.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6B7C8C"/>
                </a:solidFill>
                <a:latin typeface="Calibri"/>
              </a:rPr>
              <a:t>From offer to Day-90 — automatic schedules so candidates don't ghost.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320040"/>
            <a:ext cx="2194560" cy="292608"/>
          </a:xfrm>
          <a:prstGeom prst="roundRect">
            <a:avLst>
              <a:gd name="adj" fmla="val 50000"/>
            </a:avLst>
          </a:prstGeom>
          <a:solidFill>
            <a:srgbClr val="F5B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B1F33"/>
                </a:solidFill>
                <a:latin typeface="Calibri"/>
              </a:rPr>
              <a:t>★  STAR FEATURE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783080"/>
            <a:ext cx="18288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783080"/>
            <a:ext cx="1828800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05740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B1F33"/>
                </a:solidFill>
                <a:latin typeface="Calibri"/>
              </a:rPr>
              <a:t>Offer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688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D4F60"/>
                </a:solidFill>
                <a:latin typeface="Calibri"/>
              </a:rPr>
              <a:t>Selected → offer stage kicks off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31720" y="1783080"/>
            <a:ext cx="18288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31720" y="1783080"/>
            <a:ext cx="1828800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23160" y="205740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B1F33"/>
                </a:solidFill>
                <a:latin typeface="Calibri"/>
              </a:rPr>
              <a:t>Join −N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24688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D4F60"/>
                </a:solidFill>
                <a:latin typeface="Calibri"/>
              </a:rPr>
              <a:t>Joining-day countdown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1783080"/>
            <a:ext cx="18288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1783080"/>
            <a:ext cx="1828800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205740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B1F33"/>
                </a:solidFill>
                <a:latin typeface="Calibri"/>
              </a:rPr>
              <a:t>Day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4688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D4F60"/>
                </a:solidFill>
                <a:latin typeface="Calibri"/>
              </a:rPr>
              <a:t>Onboarding check-in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1783080"/>
            <a:ext cx="18288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1783080"/>
            <a:ext cx="1828800" cy="109728"/>
          </a:xfrm>
          <a:prstGeom prst="rect">
            <a:avLst/>
          </a:prstGeom>
          <a:solidFill>
            <a:srgbClr val="F0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205740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B1F33"/>
                </a:solidFill>
                <a:latin typeface="Calibri"/>
              </a:rPr>
              <a:t>Day 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4688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D4F60"/>
                </a:solidFill>
                <a:latin typeface="Calibri"/>
              </a:rPr>
              <a:t>Settling-in pulse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1783080"/>
            <a:ext cx="18288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0" y="1783080"/>
            <a:ext cx="1828800" cy="109728"/>
          </a:xfrm>
          <a:prstGeom prst="rect">
            <a:avLst/>
          </a:prstGeom>
          <a:solidFill>
            <a:srgbClr val="F0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0" y="205740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B1F33"/>
                </a:solidFill>
                <a:latin typeface="Calibri"/>
              </a:rPr>
              <a:t>Day 60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24688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D4F60"/>
                </a:solidFill>
                <a:latin typeface="Calibri"/>
              </a:rPr>
              <a:t>Stay-risk check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195560" y="1783080"/>
            <a:ext cx="18288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195560" y="1783080"/>
            <a:ext cx="1828800" cy="109728"/>
          </a:xfrm>
          <a:prstGeom prst="rect">
            <a:avLst/>
          </a:prstGeom>
          <a:solidFill>
            <a:srgbClr val="F0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87000" y="205740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0B1F33"/>
                </a:solidFill>
                <a:latin typeface="Calibri"/>
              </a:rPr>
              <a:t>Day 90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87000" y="24688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D4F60"/>
                </a:solidFill>
                <a:latin typeface="Calibri"/>
              </a:rPr>
              <a:t>Retention milestone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3520440"/>
            <a:ext cx="370332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3794760"/>
            <a:ext cx="3154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B1F33"/>
                </a:solidFill>
                <a:latin typeface="Calibri"/>
              </a:rPr>
              <a:t>AI scripts &amp; messages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4343400"/>
            <a:ext cx="3154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D4F60"/>
                </a:solidFill>
                <a:latin typeface="Calibri"/>
              </a:rPr>
              <a:t>Call scripts and WhatsApp messages generated for every follow-up milestone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51960" y="3520440"/>
            <a:ext cx="3703320" cy="2468880"/>
          </a:xfrm>
          <a:prstGeom prst="roundRect">
            <a:avLst>
              <a:gd name="adj" fmla="val 6000"/>
            </a:avLst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26280" y="3794760"/>
            <a:ext cx="3154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Escalation alerts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26280" y="4343400"/>
            <a:ext cx="3154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C5D4DE"/>
                </a:solidFill>
                <a:latin typeface="Calibri"/>
              </a:rPr>
              <a:t>Know before they ghost — escalations when a candidate stops responding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38160" y="3520440"/>
            <a:ext cx="3703320" cy="2468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12480" y="3794760"/>
            <a:ext cx="3154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B1F33"/>
                </a:solidFill>
                <a:latin typeface="Calibri"/>
              </a:rPr>
              <a:t>Set and forget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4343400"/>
            <a:ext cx="3154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D4F60"/>
                </a:solidFill>
                <a:latin typeface="Calibri"/>
              </a:rPr>
              <a:t>Schedule starts the moment a candidate is selected — your team just executes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AA8B8"/>
                </a:solidFill>
                <a:latin typeface="Calibri"/>
              </a:rPr>
              <a:t>HarmiRecruit  ·  AI-first recruitment for India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0" y="658368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A8B8"/>
                </a:solidFill>
                <a:latin typeface="Calibri"/>
              </a:rPr>
              <a:t>8  / 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D9488"/>
                </a:solidFill>
                <a:latin typeface="Calibri"/>
              </a:rPr>
              <a:t>FOR HIRING MANAGERS / TEAM LEADS</a:t>
            </a:r>
          </a:p>
          <a:p>
            <a:pPr>
              <a:spcBef>
                <a:spcPts val="400"/>
              </a:spcBef>
            </a:pPr>
            <a:r>
              <a:rPr sz="2800" b="1">
                <a:solidFill>
                  <a:srgbClr val="0B1F33"/>
                </a:solidFill>
                <a:latin typeface="Calibri"/>
              </a:rPr>
              <a:t>"See your whole team's desk at a glance"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6B7C8C"/>
                </a:solidFill>
                <a:latin typeface="Calibri"/>
              </a:rPr>
              <a:t>Lead the desk. Spot bottlenecks. Ship better shortlists.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737360"/>
            <a:ext cx="370332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64008" cy="411480"/>
          </a:xfrm>
          <a:prstGeom prst="rect">
            <a:avLst/>
          </a:prstGeom>
          <a:solidFill>
            <a:srgbClr val="F0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93392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B1F33"/>
                </a:solidFill>
                <a:latin typeface="Calibri"/>
              </a:rPr>
              <a:t>HM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514600"/>
            <a:ext cx="3246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D4F60"/>
                </a:solidFill>
                <a:latin typeface="Calibri"/>
              </a:rPr>
              <a:t>Team pipeline, per-recruiter workload, and today's interviews — one screen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737360"/>
            <a:ext cx="370332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2011680"/>
            <a:ext cx="64008" cy="411480"/>
          </a:xfrm>
          <a:prstGeom prst="rect">
            <a:avLst/>
          </a:prstGeom>
          <a:solidFill>
            <a:srgbClr val="F0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993392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B1F33"/>
                </a:solidFill>
                <a:latin typeface="Calibri"/>
              </a:rPr>
              <a:t>Build your team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514600"/>
            <a:ext cx="3246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D4F60"/>
                </a:solidFill>
                <a:latin typeface="Calibri"/>
              </a:rPr>
              <a:t>Add recruiters; candidates auto-scoped to your team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737360"/>
            <a:ext cx="370332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21040" y="2011680"/>
            <a:ext cx="64008" cy="411480"/>
          </a:xfrm>
          <a:prstGeom prst="rect">
            <a:avLst/>
          </a:prstGeom>
          <a:solidFill>
            <a:srgbClr val="F0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1993392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B1F33"/>
                </a:solidFill>
                <a:latin typeface="Calibri"/>
              </a:rPr>
              <a:t>Switch views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514600"/>
            <a:ext cx="3246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D4F60"/>
                </a:solidFill>
                <a:latin typeface="Calibri"/>
              </a:rPr>
              <a:t>My candidates ↔ My team's candidates — toggle instantly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931920"/>
            <a:ext cx="370332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206240"/>
            <a:ext cx="64008" cy="411480"/>
          </a:xfrm>
          <a:prstGeom prst="rect">
            <a:avLst/>
          </a:prstGeom>
          <a:solidFill>
            <a:srgbClr val="F0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187952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B1F33"/>
                </a:solidFill>
                <a:latin typeface="Calibri"/>
              </a:rPr>
              <a:t>AI JD Generator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709160"/>
            <a:ext cx="3246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D4F60"/>
                </a:solidFill>
                <a:latin typeface="Calibri"/>
              </a:rPr>
              <a:t>Create &amp; edit jobs with role-specific templates for IT, BPO, banking &amp; more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3931920"/>
            <a:ext cx="370332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4206240"/>
            <a:ext cx="64008" cy="411480"/>
          </a:xfrm>
          <a:prstGeom prst="rect">
            <a:avLst/>
          </a:prstGeom>
          <a:solidFill>
            <a:srgbClr val="F0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17720" y="4187952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B1F33"/>
                </a:solidFill>
                <a:latin typeface="Calibri"/>
              </a:rPr>
              <a:t>Review before client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709160"/>
            <a:ext cx="3246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D4F60"/>
                </a:solidFill>
                <a:latin typeface="Calibri"/>
              </a:rPr>
              <a:t>Interview evaluations &amp; screening scorecards before shortlisting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3931920"/>
            <a:ext cx="370332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21040" y="4206240"/>
            <a:ext cx="64008" cy="411480"/>
          </a:xfrm>
          <a:prstGeom prst="rect">
            <a:avLst/>
          </a:prstGeom>
          <a:solidFill>
            <a:srgbClr val="F0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03920" y="4187952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B1F33"/>
                </a:solidFill>
                <a:latin typeface="Calibri"/>
              </a:rPr>
              <a:t>Team performance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4709160"/>
            <a:ext cx="3246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D4F60"/>
                </a:solidFill>
                <a:latin typeface="Calibri"/>
              </a:rPr>
              <a:t>Submissions, interviews, selects, joins — per recruiter reports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AA8B8"/>
                </a:solidFill>
                <a:latin typeface="Calibri"/>
              </a:rPr>
              <a:t>HarmiRecruit  ·  AI-first recruitment for India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658368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A8B8"/>
                </a:solidFill>
                <a:latin typeface="Calibri"/>
              </a:rPr>
              <a:t>9  / 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D9488"/>
                </a:solidFill>
                <a:latin typeface="Calibri"/>
              </a:rPr>
              <a:t>FOR AGENCY OWNER / ADMIN</a:t>
            </a:r>
          </a:p>
          <a:p>
            <a:pPr>
              <a:spcBef>
                <a:spcPts val="400"/>
              </a:spcBef>
            </a:pPr>
            <a:r>
              <a:rPr sz="2800" b="1">
                <a:solidFill>
                  <a:srgbClr val="0B1F33"/>
                </a:solidFill>
                <a:latin typeface="Calibri"/>
              </a:rPr>
              <a:t>"Run the business, not the spreadsheet"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6B7C8C"/>
                </a:solidFill>
                <a:latin typeface="Calibri"/>
              </a:rPr>
              <a:t>KPIs, clients, branding, billing — the control room for your agency.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737360"/>
            <a:ext cx="5623560" cy="4297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6072" y="1938528"/>
            <a:ext cx="64008" cy="329184"/>
          </a:xfrm>
          <a:prstGeom prst="rect">
            <a:avLst/>
          </a:prstGeom>
          <a:solidFill>
            <a:srgbClr val="F5B8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01952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B1F33"/>
                </a:solidFill>
                <a:latin typeface="Calibri"/>
              </a:rPr>
              <a:t>Operate &amp; grow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286000"/>
            <a:ext cx="516636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200" b="0">
                <a:solidFill>
                  <a:srgbClr val="3D4F60"/>
                </a:solidFill>
                <a:latin typeface="Calibri"/>
              </a:rPr>
              <a:t>•  Admin dashboard: org-wide KPIs, funnel, recruiter leaderboard, live activity feed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200" b="0">
                <a:solidFill>
                  <a:srgbClr val="3D4F60"/>
                </a:solidFill>
                <a:latin typeface="Calibri"/>
              </a:rPr>
              <a:t>•  Client (company) management with locations + geo-matching for nearby candidates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200" b="0">
                <a:solidFill>
                  <a:srgbClr val="3D4F60"/>
                </a:solidFill>
                <a:latin typeface="Calibri"/>
              </a:rPr>
              <a:t>•  Team management: recruiters, HMs, admins — automatic welcome email for every new user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200" b="0">
                <a:solidFill>
                  <a:srgbClr val="3D4F60"/>
                </a:solidFill>
                <a:latin typeface="Calibri"/>
              </a:rPr>
              <a:t>•  Branded careers page at your own link — copy apply links to WhatsApp, LinkedIn, Naukri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37360"/>
            <a:ext cx="5532120" cy="4297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82512" y="1938528"/>
            <a:ext cx="64008" cy="32918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901952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0B1F33"/>
                </a:solidFill>
                <a:latin typeface="Calibri"/>
              </a:rPr>
              <a:t>Measure &amp; monetise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2286000"/>
            <a:ext cx="507492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200" b="0">
                <a:solidFill>
                  <a:srgbClr val="3D4F60"/>
                </a:solidFill>
                <a:latin typeface="Calibri"/>
              </a:rPr>
              <a:t>•  Reports centre: productivity, funnel, offer-to-join — export to CSV/Excel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200" b="0">
                <a:solidFill>
                  <a:srgbClr val="3D4F60"/>
                </a:solidFill>
                <a:latin typeface="Calibri"/>
              </a:rPr>
              <a:t>•  Full analytics: source mix, stage conversion, trends over time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200" b="0">
                <a:solidFill>
                  <a:srgbClr val="3D4F60"/>
                </a:solidFill>
                <a:latin typeface="Calibri"/>
              </a:rPr>
              <a:t>•  Workspace branding: logo, colours, recruiter WhatsApp signatures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200" b="0">
                <a:solidFill>
                  <a:srgbClr val="3D4F60"/>
                </a:solidFill>
                <a:latin typeface="Calibri"/>
              </a:rPr>
              <a:t>•  Billing self-service via Razorpay (UPI, cards, netbanking) + GST invoices</a:t>
            </a:r>
          </a:p>
          <a:p>
            <a:pPr>
              <a:spcBef>
                <a:spcPts val="500"/>
              </a:spcBef>
              <a:spcAft>
                <a:spcPts val="100"/>
              </a:spcAft>
            </a:pPr>
            <a:r>
              <a:rPr sz="1200" b="0">
                <a:solidFill>
                  <a:srgbClr val="3D4F60"/>
                </a:solidFill>
                <a:latin typeface="Calibri"/>
              </a:rPr>
              <a:t>•  Data isolation: your workspace is completely private to your organisation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AA8B8"/>
                </a:solidFill>
                <a:latin typeface="Calibri"/>
              </a:rPr>
              <a:t>HarmiRecruit  ·  AI-first recruitment for India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58368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A8B8"/>
                </a:solidFill>
                <a:latin typeface="Calibri"/>
              </a:rPr>
              <a:t>10  / 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D9488"/>
                </a:solidFill>
                <a:latin typeface="Calibri"/>
              </a:rPr>
              <a:t>FOR CANDIDATES</a:t>
            </a:r>
          </a:p>
          <a:p>
            <a:pPr>
              <a:spcBef>
                <a:spcPts val="400"/>
              </a:spcBef>
            </a:pPr>
            <a:r>
              <a:rPr sz="2800" b="1">
                <a:solidFill>
                  <a:srgbClr val="0B1F33"/>
                </a:solidFill>
                <a:latin typeface="Calibri"/>
              </a:rPr>
              <a:t>Zero friction. No app to install.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6B7C8C"/>
                </a:solidFill>
                <a:latin typeface="Calibri"/>
              </a:rPr>
              <a:t>Apply from any phone. Interview from the browser. That's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2011680"/>
            <a:ext cx="274320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80160" y="2377440"/>
            <a:ext cx="1005840" cy="10058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65760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0B1F33"/>
                </a:solidFill>
                <a:latin typeface="Calibri"/>
              </a:rPr>
              <a:t>Apply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0624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D4F60"/>
                </a:solidFill>
                <a:latin typeface="Calibri"/>
              </a:rPr>
              <a:t>Branded careers page — name, number, resume, done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2011680"/>
            <a:ext cx="274320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206240" y="2377440"/>
            <a:ext cx="1005840" cy="10058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365760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0B1F33"/>
                </a:solidFill>
                <a:latin typeface="Calibri"/>
              </a:rPr>
              <a:t>Confirm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420624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D4F60"/>
                </a:solidFill>
                <a:latin typeface="Calibri"/>
              </a:rPr>
              <a:t>Instant application-received email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011680"/>
            <a:ext cx="274320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132320" y="2377440"/>
            <a:ext cx="1005840" cy="100584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65760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0B1F33"/>
                </a:solidFill>
                <a:latin typeface="Calibri"/>
              </a:rPr>
              <a:t>Invite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20624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D4F60"/>
                </a:solidFill>
                <a:latin typeface="Calibri"/>
              </a:rPr>
              <a:t>WhatsApp + email with calendar file on their phone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2011680"/>
            <a:ext cx="2743200" cy="3840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2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0" y="2377440"/>
            <a:ext cx="1005840" cy="1005840"/>
          </a:xfrm>
          <a:prstGeom prst="ellipse">
            <a:avLst/>
          </a:prstGeom>
          <a:solidFill>
            <a:srgbClr val="F0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365760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0B1F33"/>
                </a:solidFill>
                <a:latin typeface="Calibri"/>
              </a:rPr>
              <a:t>Join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420624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D4F60"/>
                </a:solidFill>
                <a:latin typeface="Calibri"/>
              </a:rPr>
              <a:t>One-tap video interview — browser only, mic check included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AA8B8"/>
                </a:solidFill>
                <a:latin typeface="Calibri"/>
              </a:rPr>
              <a:t>HarmiRecruit  ·  AI-first recruitment for India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658368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A8B8"/>
                </a:solidFill>
                <a:latin typeface="Calibri"/>
              </a:rPr>
              <a:t>11  / 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D9488"/>
                </a:solidFill>
                <a:latin typeface="Calibri"/>
              </a:rPr>
              <a:t>THE AI LAYER</a:t>
            </a:r>
          </a:p>
          <a:p>
            <a:pPr>
              <a:spcBef>
                <a:spcPts val="400"/>
              </a:spcBef>
            </a:pPr>
            <a:r>
              <a:rPr sz="2800" b="1">
                <a:solidFill>
                  <a:srgbClr val="0B1F33"/>
                </a:solidFill>
                <a:latin typeface="Calibri"/>
              </a:rPr>
              <a:t>Works across every role — quietly doing the heavy lifting.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6B7C8C"/>
                </a:solidFill>
                <a:latin typeface="Calibri"/>
              </a:rPr>
              <a:t>Six AI capabilities. One outcome: faster, sharper hiring.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11155680" cy="502920"/>
          </a:xfrm>
          <a:prstGeom prst="roundRect">
            <a:avLst>
              <a:gd name="adj" fmla="val 4000"/>
            </a:avLst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AI Feature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7830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What it does for you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286000"/>
            <a:ext cx="111556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42316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B1F33"/>
                </a:solidFill>
                <a:latin typeface="Calibri"/>
              </a:rPr>
              <a:t>Resume Parser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42316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3D4F60"/>
                </a:solidFill>
                <a:latin typeface="Calibri"/>
              </a:rPr>
              <a:t>Resume → complete profile in seconds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926080"/>
            <a:ext cx="11155680" cy="640080"/>
          </a:xfrm>
          <a:prstGeom prst="rect">
            <a:avLst/>
          </a:prstGeom>
          <a:solidFill>
            <a:srgbClr val="E6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06324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B1F33"/>
                </a:solidFill>
                <a:latin typeface="Calibri"/>
              </a:rPr>
              <a:t>Match 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306324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3D4F60"/>
                </a:solidFill>
                <a:latin typeface="Calibri"/>
              </a:rPr>
              <a:t>Ranks every candidate against the job, with reasons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566160"/>
            <a:ext cx="111556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70332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B1F33"/>
                </a:solidFill>
                <a:latin typeface="Calibri"/>
              </a:rPr>
              <a:t>JD Generator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370332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3D4F60"/>
                </a:solidFill>
                <a:latin typeface="Calibri"/>
              </a:rPr>
              <a:t>Complete, polished job descriptions from just a title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206240"/>
            <a:ext cx="11155680" cy="640080"/>
          </a:xfrm>
          <a:prstGeom prst="rect">
            <a:avLst/>
          </a:prstGeom>
          <a:solidFill>
            <a:srgbClr val="E6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34340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B1F33"/>
                </a:solidFill>
                <a:latin typeface="Calibri"/>
              </a:rPr>
              <a:t>Screening Q Generator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434340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3D4F60"/>
                </a:solidFill>
                <a:latin typeface="Calibri"/>
              </a:rPr>
              <a:t>Interview questions derived from each JD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846320"/>
            <a:ext cx="111556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9834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B1F33"/>
                </a:solidFill>
                <a:latin typeface="Calibri"/>
              </a:rPr>
              <a:t>WhatsApp Reply Suggestions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498348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3D4F60"/>
                </a:solidFill>
                <a:latin typeface="Calibri"/>
              </a:rPr>
              <a:t>AI-drafted responses in every conversation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5486400"/>
            <a:ext cx="11155680" cy="640080"/>
          </a:xfrm>
          <a:prstGeom prst="rect">
            <a:avLst/>
          </a:prstGeom>
          <a:solidFill>
            <a:srgbClr val="E6F6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62356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B1F33"/>
                </a:solidFill>
                <a:latin typeface="Calibri"/>
              </a:rPr>
              <a:t>Follow-up Script Writer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562356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3D4F60"/>
                </a:solidFill>
                <a:latin typeface="Calibri"/>
              </a:rPr>
              <a:t>Call scripts &amp; messages for every follow-up milestone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AA8B8"/>
                </a:solidFill>
                <a:latin typeface="Calibri"/>
              </a:rPr>
              <a:t>HarmiRecruit  ·  AI-first recruitment for India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0" y="658368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A8B8"/>
                </a:solidFill>
                <a:latin typeface="Calibri"/>
              </a:rPr>
              <a:t>12  / 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17320"/>
          </a:xfrm>
          <a:prstGeom prst="rect">
            <a:avLst/>
          </a:prstGeom>
          <a:solidFill>
            <a:srgbClr val="F4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0D9488"/>
                </a:solidFill>
                <a:latin typeface="Calibri"/>
              </a:rPr>
              <a:t>WHY TEAMS SWITCH</a:t>
            </a:r>
          </a:p>
          <a:p>
            <a:pPr>
              <a:spcBef>
                <a:spcPts val="400"/>
              </a:spcBef>
            </a:pPr>
            <a:r>
              <a:rPr sz="2800" b="1">
                <a:solidFill>
                  <a:srgbClr val="0B1F33"/>
                </a:solidFill>
                <a:latin typeface="Calibri"/>
              </a:rPr>
              <a:t>Built for how Indian recruiting actually works.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6B7C8C"/>
                </a:solidFill>
                <a:latin typeface="Calibri"/>
              </a:rPr>
              <a:t>WhatsApp-native. AI-assisted. Agency-ready.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737360"/>
            <a:ext cx="370332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1965960"/>
            <a:ext cx="411480" cy="411480"/>
          </a:xfrm>
          <a:prstGeom prst="roundRect">
            <a:avLst>
              <a:gd name="adj" fmla="val 3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01168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B1F33"/>
                </a:solidFill>
                <a:latin typeface="Calibri"/>
              </a:rPr>
              <a:t>WhatsApp at the core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06040"/>
            <a:ext cx="3246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D4F60"/>
                </a:solidFill>
                <a:latin typeface="Calibri"/>
              </a:rPr>
              <a:t>Candidates already live there — so does your outreach, invites, and follow-ups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737360"/>
            <a:ext cx="370332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80560" y="1965960"/>
            <a:ext cx="411480" cy="411480"/>
          </a:xfrm>
          <a:prstGeom prst="roundRect">
            <a:avLst>
              <a:gd name="adj" fmla="val 3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01168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B1F33"/>
                </a:solidFill>
                <a:latin typeface="Calibri"/>
              </a:rPr>
              <a:t>AI that saves hours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606040"/>
            <a:ext cx="3246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D4F60"/>
                </a:solidFill>
                <a:latin typeface="Calibri"/>
              </a:rPr>
              <a:t>Parsing, matching, JDs, scripts, and replies — less admin, more closing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737360"/>
            <a:ext cx="370332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366760" y="1965960"/>
            <a:ext cx="411480" cy="411480"/>
          </a:xfrm>
          <a:prstGeom prst="roundRect">
            <a:avLst>
              <a:gd name="adj" fmla="val 3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201168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B1F33"/>
                </a:solidFill>
                <a:latin typeface="Calibri"/>
              </a:rPr>
              <a:t>Role-perfect seats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606040"/>
            <a:ext cx="3246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D4F60"/>
                </a:solidFill>
                <a:latin typeface="Calibri"/>
              </a:rPr>
              <a:t>Recruiters, HMs, and owners each get a dashboard that fits their job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931920"/>
            <a:ext cx="370332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94360" y="4160520"/>
            <a:ext cx="411480" cy="411480"/>
          </a:xfrm>
          <a:prstGeom prst="roundRect">
            <a:avLst>
              <a:gd name="adj" fmla="val 3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20624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B1F33"/>
                </a:solidFill>
                <a:latin typeface="Calibri"/>
              </a:rPr>
              <a:t>Careers → Pipeline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800600"/>
            <a:ext cx="3246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D4F60"/>
                </a:solidFill>
                <a:latin typeface="Calibri"/>
              </a:rPr>
              <a:t>Branded apply page feeds straight into your ATS with dedupe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3931920"/>
            <a:ext cx="370332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480560" y="4160520"/>
            <a:ext cx="411480" cy="411480"/>
          </a:xfrm>
          <a:prstGeom prst="roundRect">
            <a:avLst>
              <a:gd name="adj" fmla="val 3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420624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B1F33"/>
                </a:solidFill>
                <a:latin typeface="Calibri"/>
              </a:rPr>
              <a:t>Join, don't ghost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800600"/>
            <a:ext cx="3246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D4F60"/>
                </a:solidFill>
                <a:latin typeface="Calibri"/>
              </a:rPr>
              <a:t>Offer-to-join follow-ups with escalations before dropouts happen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3931920"/>
            <a:ext cx="370332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8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366760" y="4160520"/>
            <a:ext cx="411480" cy="411480"/>
          </a:xfrm>
          <a:prstGeom prst="roundRect">
            <a:avLst>
              <a:gd name="adj" fmla="val 3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15400" y="4206240"/>
            <a:ext cx="2651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B1F33"/>
                </a:solidFill>
                <a:latin typeface="Calibri"/>
              </a:rPr>
              <a:t>Pay the Indian way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4800600"/>
            <a:ext cx="3246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3D4F60"/>
                </a:solidFill>
                <a:latin typeface="Calibri"/>
              </a:rPr>
              <a:t>Razorpay: UPI, cards, netbanking, GST invoices, monthly or annual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658368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AA8B8"/>
                </a:solidFill>
                <a:latin typeface="Calibri"/>
              </a:rPr>
              <a:t>HarmiRecruit  ·  AI-first recruitment for India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658368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A8B8"/>
                </a:solidFill>
                <a:latin typeface="Calibri"/>
              </a:rPr>
              <a:t>13  / 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303520"/>
            <a:ext cx="12191695" cy="1554480"/>
          </a:xfrm>
          <a:prstGeom prst="rect">
            <a:avLst/>
          </a:prstGeom>
          <a:solidFill>
            <a:srgbClr val="12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14B8A6"/>
                </a:solidFill>
                <a:latin typeface="Calibri"/>
              </a:rPr>
              <a:t>READY WHEN YOU 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Calibri"/>
              </a:rPr>
              <a:t>Give every seat on your team
the tools to hire faster.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404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C5D4DE"/>
                </a:solidFill>
                <a:latin typeface="Calibri"/>
              </a:rPr>
              <a:t>HarmiRecruit — AI-first recruitment with WhatsApp at the core.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669280"/>
            <a:ext cx="2926080" cy="502920"/>
          </a:xfrm>
          <a:prstGeom prst="roundRect">
            <a:avLst>
              <a:gd name="adj" fmla="val 4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Book a demo 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5760720"/>
            <a:ext cx="6858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8AA8B8"/>
                </a:solidFill>
                <a:latin typeface="Calibri"/>
              </a:rPr>
              <a:t>Recruiters  ·  Hiring Managers  ·  Owners  ·  Candidates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